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6C2D3-9AE2-437E-6518-52968F741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0BF10D-3264-78C5-A4DE-AC413527A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C00CD-0B60-FE3F-57C2-177845AD4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D6652F-9739-C889-E2AC-B1001E2F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74BECE-B1C1-09EF-D45D-B2779ED1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1535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2A1B3-504A-F4CA-467E-314F656D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18FC87-3020-9D84-A857-2C9D6EC61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E7FE0A-575F-FD27-ECED-DFB5FD81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D05819-37B0-B86B-005E-11CA4B5E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03B0DE-9078-44BB-C9BB-077A3C2F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9519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A7DB9-B167-F079-930E-E65E83B4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D0F5C7-0CF8-2715-8EED-2868530BC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7BFF1E-FCB6-F60F-CAAB-FDD198466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8C5039-0D66-0DDA-5EE9-B6869CB0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052CDE-CD00-7432-AB97-81D41383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8816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A1E67A-BE54-0F8F-F94E-0389C2C7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CB146C-EF73-A4BC-F24E-E88EF1395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34AE86-AABB-2B56-9340-943C775F2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12FC8C-A45C-4E77-7E5C-93AB09B5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B8C138-3BCD-BEA6-02FC-B0569D12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7EB428-FCA9-8870-5B4F-D8B79905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6103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2ADD76-39DF-7843-B8DF-B5274E71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DFD0FD-1750-9ACC-AA45-006851BC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31D1C3-6D88-DE19-EE9E-2CC56E652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E0AB91E-FA75-950F-8D23-C3639A3F3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EB539D-9058-B14F-A725-7EA326820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D5EAB9B-C5E6-7E00-6684-C20D3A8F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D19B61-AE50-57D5-7F56-381537CF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4C2FF94-9DEC-3426-5D36-271E2093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0888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48A86F-2C52-7A1E-3DF9-187D9D88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12C9B02-BAB5-C4CD-7646-34DB9AA0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6828DA-3ADA-CFE7-B44A-C120C4D4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9BBD40-7562-CA3B-AF38-CAF913E9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6314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249648B-12F9-E3D1-146F-DFABC286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F184EF-04D9-5107-BD4B-0B739BCB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9C4FD5-9E3F-80E9-11D9-4DD10CBC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44583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A74B84-5531-9649-237D-3B287F02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BFE7D4-ADB2-C6F7-6BE7-33FB35C94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FCCF9C-405C-089E-C5E3-6525B9AF4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2669DF-CA55-29E7-EA4A-842C60190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2D8B77-6CD0-E432-46BC-2082E1B9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9D6FFA-32AC-617D-FEA9-0B1FEC3C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5716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143B47-1EA3-6A50-62B9-4C4660F3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C058EB-3DC0-DADC-C421-8FBF5886E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3D0E13-738C-D1C6-B76E-5F4FDE7CA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D77E5F-7B03-0ECE-9B51-2D63F6C0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2C2E84-D05B-D46E-AA5B-4922A97B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BF4EFC-FFD8-BD6D-9A02-84EE64ED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6705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C5CC6-7EF4-6C5E-D866-41072CFCA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6C67F76-DF8B-D1AE-75A0-7ACDEBC3A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3405D9-E09F-4276-CB0A-1B78B478F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74D2D3-9921-6388-7906-529F1536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947584-CC79-8AC7-5F8D-F137C8EB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1781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9C847A-B082-C394-DC6C-2D07BA44E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CFE158-1337-47C1-7EC4-8C3C6259A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85D707-21AB-5CD4-1AC6-E61E6BEE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8E2303-7237-C5D7-FFD9-BC2F0B6E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2A10D4-D776-816D-E101-2BC3ABF8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6429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6019A53-475B-67F4-201A-DF7B97755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04227B-96AE-C3F2-D33A-D1CC52162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45B84-93BF-7863-32FF-D75AC2595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87CCE-908A-44B0-BD7A-A1399C3409B4}" type="datetimeFigureOut">
              <a:rPr lang="fr-MA" smtClean="0"/>
              <a:t>16/11/2025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6796EC-2226-D8F8-B168-817F71470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01D44-6631-7355-961E-28DD31A11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70E11-261C-4FB3-B016-D0A9510F0E98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0025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A741D1-CD58-2247-7CED-D72DE95E605A}"/>
              </a:ext>
            </a:extLst>
          </p:cNvPr>
          <p:cNvSpPr/>
          <p:nvPr/>
        </p:nvSpPr>
        <p:spPr>
          <a:xfrm>
            <a:off x="503434" y="236306"/>
            <a:ext cx="1212350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METEO</a:t>
            </a:r>
            <a:endParaRPr lang="fr-MA" dirty="0"/>
          </a:p>
        </p:txBody>
      </p:sp>
      <p:cxnSp>
        <p:nvCxnSpPr>
          <p:cNvPr id="6" name="Connecteur : en angle 5">
            <a:extLst>
              <a:ext uri="{FF2B5EF4-FFF2-40B4-BE49-F238E27FC236}">
                <a16:creationId xmlns:a16="http://schemas.microsoft.com/office/drawing/2014/main" id="{AAD6C854-03DD-E8E6-667E-4F52DF1A58B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715784" y="498297"/>
            <a:ext cx="976045" cy="8989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126254D-D243-2027-9DA0-9B97AF3E986C}"/>
              </a:ext>
            </a:extLst>
          </p:cNvPr>
          <p:cNvSpPr/>
          <p:nvPr/>
        </p:nvSpPr>
        <p:spPr>
          <a:xfrm>
            <a:off x="2691829" y="1130156"/>
            <a:ext cx="1315092" cy="53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MESURE</a:t>
            </a:r>
            <a:endParaRPr lang="fr-MA" dirty="0"/>
          </a:p>
        </p:txBody>
      </p: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A4C5B9F5-AE3B-B249-3686-123C7DFAD080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006921" y="1397284"/>
            <a:ext cx="1441807" cy="262761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1A7385E-7009-A417-F995-63ADBA51FEA5}"/>
              </a:ext>
            </a:extLst>
          </p:cNvPr>
          <p:cNvSpPr/>
          <p:nvPr/>
        </p:nvSpPr>
        <p:spPr>
          <a:xfrm>
            <a:off x="5448728" y="3716676"/>
            <a:ext cx="1277420" cy="616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VILLE</a:t>
            </a:r>
            <a:endParaRPr lang="fr-MA" dirty="0"/>
          </a:p>
        </p:txBody>
      </p:sp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B2747726-DF86-E16A-01A8-0B38853E4933}"/>
              </a:ext>
            </a:extLst>
          </p:cNvPr>
          <p:cNvSpPr/>
          <p:nvPr/>
        </p:nvSpPr>
        <p:spPr>
          <a:xfrm>
            <a:off x="5732982" y="2006243"/>
            <a:ext cx="1010292" cy="69864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  <a:endParaRPr lang="fr-MA" dirty="0"/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8AE2C4D4-3C6E-A9AF-11B6-58332C51DA59}"/>
              </a:ext>
            </a:extLst>
          </p:cNvPr>
          <p:cNvSpPr/>
          <p:nvPr/>
        </p:nvSpPr>
        <p:spPr>
          <a:xfrm>
            <a:off x="7448763" y="4333125"/>
            <a:ext cx="2332233" cy="616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NOM</a:t>
            </a:r>
            <a:endParaRPr lang="fr-MA" dirty="0"/>
          </a:p>
        </p:txBody>
      </p:sp>
      <p:sp>
        <p:nvSpPr>
          <p:cNvPr id="27" name="Organigramme : Connecteur 26">
            <a:extLst>
              <a:ext uri="{FF2B5EF4-FFF2-40B4-BE49-F238E27FC236}">
                <a16:creationId xmlns:a16="http://schemas.microsoft.com/office/drawing/2014/main" id="{834948FD-C54B-6D71-261A-E241986BE89E}"/>
              </a:ext>
            </a:extLst>
          </p:cNvPr>
          <p:cNvSpPr/>
          <p:nvPr/>
        </p:nvSpPr>
        <p:spPr>
          <a:xfrm>
            <a:off x="7448764" y="5262078"/>
            <a:ext cx="2332234" cy="616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TEMPERATURE</a:t>
            </a:r>
            <a:endParaRPr lang="fr-MA" dirty="0"/>
          </a:p>
        </p:txBody>
      </p: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9610BE66-39A0-0285-CA3C-1E6724FD5E31}"/>
              </a:ext>
            </a:extLst>
          </p:cNvPr>
          <p:cNvCxnSpPr>
            <a:stCxn id="10" idx="3"/>
            <a:endCxn id="26" idx="2"/>
          </p:cNvCxnSpPr>
          <p:nvPr/>
        </p:nvCxnSpPr>
        <p:spPr>
          <a:xfrm>
            <a:off x="6726148" y="4024901"/>
            <a:ext cx="722615" cy="61644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C9165BE2-A769-ED51-C6E1-5811FF672860}"/>
              </a:ext>
            </a:extLst>
          </p:cNvPr>
          <p:cNvCxnSpPr>
            <a:stCxn id="10" idx="3"/>
            <a:endCxn id="27" idx="2"/>
          </p:cNvCxnSpPr>
          <p:nvPr/>
        </p:nvCxnSpPr>
        <p:spPr>
          <a:xfrm>
            <a:off x="6726148" y="4024901"/>
            <a:ext cx="722616" cy="154540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 : en angle 33">
            <a:extLst>
              <a:ext uri="{FF2B5EF4-FFF2-40B4-BE49-F238E27FC236}">
                <a16:creationId xmlns:a16="http://schemas.microsoft.com/office/drawing/2014/main" id="{625A76F8-EA8E-F654-ECD6-A2CC6E5B2C07}"/>
              </a:ext>
            </a:extLst>
          </p:cNvPr>
          <p:cNvCxnSpPr>
            <a:stCxn id="7" idx="3"/>
            <a:endCxn id="23" idx="2"/>
          </p:cNvCxnSpPr>
          <p:nvPr/>
        </p:nvCxnSpPr>
        <p:spPr>
          <a:xfrm>
            <a:off x="4006921" y="1397284"/>
            <a:ext cx="1726061" cy="958281"/>
          </a:xfrm>
          <a:prstGeom prst="bentConnector3">
            <a:avLst>
              <a:gd name="adj1" fmla="val 4166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rganigramme : Connecteur 39">
            <a:extLst>
              <a:ext uri="{FF2B5EF4-FFF2-40B4-BE49-F238E27FC236}">
                <a16:creationId xmlns:a16="http://schemas.microsoft.com/office/drawing/2014/main" id="{0A75F2AC-B1B2-C3F0-D2CF-881C33486C48}"/>
              </a:ext>
            </a:extLst>
          </p:cNvPr>
          <p:cNvSpPr/>
          <p:nvPr/>
        </p:nvSpPr>
        <p:spPr>
          <a:xfrm>
            <a:off x="2041987" y="806520"/>
            <a:ext cx="323637" cy="25685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fr-MA" dirty="0"/>
          </a:p>
        </p:txBody>
      </p:sp>
      <p:sp>
        <p:nvSpPr>
          <p:cNvPr id="41" name="Organigramme : Connecteur 40">
            <a:extLst>
              <a:ext uri="{FF2B5EF4-FFF2-40B4-BE49-F238E27FC236}">
                <a16:creationId xmlns:a16="http://schemas.microsoft.com/office/drawing/2014/main" id="{77D44EBF-52BC-C79B-5F3B-CFB17519BD26}"/>
              </a:ext>
            </a:extLst>
          </p:cNvPr>
          <p:cNvSpPr/>
          <p:nvPr/>
        </p:nvSpPr>
        <p:spPr>
          <a:xfrm>
            <a:off x="5051461" y="2231631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42" name="Organigramme : Connecteur 41">
            <a:extLst>
              <a:ext uri="{FF2B5EF4-FFF2-40B4-BE49-F238E27FC236}">
                <a16:creationId xmlns:a16="http://schemas.microsoft.com/office/drawing/2014/main" id="{21EF5999-CBC5-5E10-E0F9-694A7F0AEC0E}"/>
              </a:ext>
            </a:extLst>
          </p:cNvPr>
          <p:cNvSpPr/>
          <p:nvPr/>
        </p:nvSpPr>
        <p:spPr>
          <a:xfrm>
            <a:off x="6888823" y="4517416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43" name="Organigramme : Connecteur 42">
            <a:extLst>
              <a:ext uri="{FF2B5EF4-FFF2-40B4-BE49-F238E27FC236}">
                <a16:creationId xmlns:a16="http://schemas.microsoft.com/office/drawing/2014/main" id="{8223BA7B-B015-E435-2546-E8114F1D40C2}"/>
              </a:ext>
            </a:extLst>
          </p:cNvPr>
          <p:cNvSpPr/>
          <p:nvPr/>
        </p:nvSpPr>
        <p:spPr>
          <a:xfrm>
            <a:off x="4852828" y="3899044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fr-MA" dirty="0"/>
          </a:p>
        </p:txBody>
      </p:sp>
      <p:sp>
        <p:nvSpPr>
          <p:cNvPr id="44" name="Organigramme : Connecteur 43">
            <a:extLst>
              <a:ext uri="{FF2B5EF4-FFF2-40B4-BE49-F238E27FC236}">
                <a16:creationId xmlns:a16="http://schemas.microsoft.com/office/drawing/2014/main" id="{BA47875A-0EAB-2AF1-59F7-64E0965B9558}"/>
              </a:ext>
            </a:extLst>
          </p:cNvPr>
          <p:cNvSpPr/>
          <p:nvPr/>
        </p:nvSpPr>
        <p:spPr>
          <a:xfrm>
            <a:off x="6888823" y="5446369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90386D77-06E5-CF0A-DFC9-0F7E5756EEFF}"/>
              </a:ext>
            </a:extLst>
          </p:cNvPr>
          <p:cNvSpPr txBox="1"/>
          <p:nvPr/>
        </p:nvSpPr>
        <p:spPr>
          <a:xfrm>
            <a:off x="8645700" y="0"/>
            <a:ext cx="35651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On considère un document XML qui présente </a:t>
            </a:r>
            <a:r>
              <a:rPr lang="fr-MA" dirty="0">
                <a:solidFill>
                  <a:srgbClr val="FF0000"/>
                </a:solidFill>
              </a:rPr>
              <a:t>les mesures des températures </a:t>
            </a:r>
            <a:r>
              <a:rPr lang="fr-MA" dirty="0"/>
              <a:t>des</a:t>
            </a:r>
            <a:br>
              <a:rPr lang="fr-MA" dirty="0"/>
            </a:br>
            <a:r>
              <a:rPr lang="fr-MA" dirty="0"/>
              <a:t>différentes </a:t>
            </a:r>
            <a:r>
              <a:rPr lang="fr-MA" dirty="0">
                <a:solidFill>
                  <a:schemeClr val="accent5"/>
                </a:solidFill>
              </a:rPr>
              <a:t>villes</a:t>
            </a:r>
            <a:r>
              <a:rPr lang="fr-MA" dirty="0"/>
              <a:t> à une </a:t>
            </a:r>
            <a:r>
              <a:rPr lang="fr-MA" dirty="0">
                <a:solidFill>
                  <a:schemeClr val="accent5"/>
                </a:solidFill>
              </a:rPr>
              <a:t>date </a:t>
            </a:r>
            <a:r>
              <a:rPr lang="fr-MA" dirty="0"/>
              <a:t>donnée. Chaque mesure est qualifiée par une </a:t>
            </a:r>
            <a:r>
              <a:rPr lang="fr-MA" dirty="0">
                <a:solidFill>
                  <a:srgbClr val="00B050"/>
                </a:solidFill>
              </a:rPr>
              <a:t>date</a:t>
            </a:r>
            <a:r>
              <a:rPr lang="fr-MA" dirty="0"/>
              <a:t> et formée par une</a:t>
            </a:r>
            <a:br>
              <a:rPr lang="fr-MA" dirty="0"/>
            </a:br>
            <a:r>
              <a:rPr lang="fr-MA" dirty="0"/>
              <a:t>ensemble de </a:t>
            </a:r>
            <a:r>
              <a:rPr lang="fr-MA" dirty="0">
                <a:solidFill>
                  <a:srgbClr val="00B050"/>
                </a:solidFill>
              </a:rPr>
              <a:t>villes</a:t>
            </a:r>
            <a:r>
              <a:rPr lang="fr-MA" dirty="0"/>
              <a:t>. Chaque ville est qualifiée par un </a:t>
            </a:r>
            <a:r>
              <a:rPr lang="fr-MA" dirty="0">
                <a:solidFill>
                  <a:srgbClr val="FFC000"/>
                </a:solidFill>
              </a:rPr>
              <a:t>nom</a:t>
            </a:r>
            <a:r>
              <a:rPr lang="fr-MA" dirty="0"/>
              <a:t> et une </a:t>
            </a:r>
            <a:r>
              <a:rPr lang="fr-MA" dirty="0">
                <a:solidFill>
                  <a:srgbClr val="FFC000"/>
                </a:solidFill>
              </a:rPr>
              <a:t>température</a:t>
            </a:r>
          </a:p>
        </p:txBody>
      </p:sp>
    </p:spTree>
    <p:extLst>
      <p:ext uri="{BB962C8B-B14F-4D97-AF65-F5344CB8AC3E}">
        <p14:creationId xmlns:p14="http://schemas.microsoft.com/office/powerpoint/2010/main" val="7681002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MOURAD DAIZ</dc:creator>
  <cp:lastModifiedBy>MOURAD DAIZ</cp:lastModifiedBy>
  <cp:revision>1</cp:revision>
  <dcterms:created xsi:type="dcterms:W3CDTF">2025-11-16T15:38:15Z</dcterms:created>
  <dcterms:modified xsi:type="dcterms:W3CDTF">2025-11-16T15:41:12Z</dcterms:modified>
</cp:coreProperties>
</file>